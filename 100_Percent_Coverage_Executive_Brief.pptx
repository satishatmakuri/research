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E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E3F"/>
                </a:solidFill>
                <a:latin typeface="Calibri"/>
              </a:rPr>
              <a:t>Defect detection vs interaction strength (t)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defects detected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E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1-way</c:v>
                  </c:pt>
                  <c:pt idx="1">
                    <c:v>2-way</c:v>
                  </c:pt>
                  <c:pt idx="2">
                    <c:v>3-way</c:v>
                  </c:pt>
                  <c:pt idx="3">
                    <c:v>4-way</c:v>
                  </c:pt>
                  <c:pt idx="4">
                    <c:v>5-way</c:v>
                  </c:pt>
                  <c:pt idx="5">
                    <c:v>6-way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</c:v>
                </c:pt>
                <c:pt idx="1">
                  <c:v>73</c:v>
                </c:pt>
                <c:pt idx="2">
                  <c:v>90</c:v>
                </c:pt>
                <c:pt idx="3">
                  <c:v>96</c:v>
                </c:pt>
                <c:pt idx="4">
                  <c:v>99</c:v>
                </c:pt>
                <c:pt idx="5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0B1E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47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6478"/>
                    </a:solidFill>
                    <a:latin typeface="Arial"/>
                  </a:rPr>
                  <a:t>Interaction strength (t)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E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9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47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6478"/>
                    </a:solidFill>
                    <a:latin typeface="Arial"/>
                  </a:rPr>
                  <a:t>Defects detected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943600" cy="59436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457200"/>
            <a:ext cx="4114800" cy="4114800"/>
          </a:xfrm>
          <a:prstGeom prst="ellipse">
            <a:avLst/>
          </a:prstGeom>
          <a:solidFill>
            <a:srgbClr val="F2A93B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46304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Mathematical Path to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Test Coverage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scientific framework for guaranteeing complete, defensible verification of any software requirement specification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4937760"/>
            <a:ext cx="9144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Senior Technical Leadership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5486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  |   Q2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gaps are a board-level risk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486400" cy="45720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every VP must answer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7432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“How do you know your tests cover everything that matters?”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the typical answer is anecdotal: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46634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have 1,200 test cases."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coverage is around 80%."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team has been thorough."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737360"/>
            <a:ext cx="5486400" cy="4572000"/>
          </a:xfrm>
          <a:prstGeom prst="rect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116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anecdote is not enough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37960" y="2743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Unmeasured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37960" y="30358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denominator means coverage % is meaningless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37960" y="3611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Undefendable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37960" y="39044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regulators, auditors, customers ask — we cannot prove it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537960" y="44805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Unrepeatable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537960" y="47731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individual tester intuition, not method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537960" y="53492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Unscalable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537960" y="56418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guaranteed across releases or product lines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  |   Confidential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COVERAGE GAPS COST THE BUSINESS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economics demand a rigorous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657600" cy="274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737360"/>
            <a:ext cx="3657600" cy="91440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06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100×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 to fix in production than in design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Systems Sciences Institute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70832" y="1737360"/>
            <a:ext cx="3657600" cy="274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0832" y="1737360"/>
            <a:ext cx="3657600" cy="91440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9659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5152" y="2606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60-80%</a:t>
            </a:r>
            <a:endParaRPr lang="en-US" sz="5600" dirty="0"/>
          </a:p>
        </p:txBody>
      </p:sp>
      <p:sp>
        <p:nvSpPr>
          <p:cNvPr id="14" name="Text 10"/>
          <p:cNvSpPr/>
          <p:nvPr/>
        </p:nvSpPr>
        <p:spPr>
          <a:xfrm>
            <a:off x="4645152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software cost is spent on testing &amp; defect remediation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45152" y="4160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RTI Study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284464" y="1737360"/>
            <a:ext cx="3657600" cy="274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84464" y="1737360"/>
            <a:ext cx="3657600" cy="91440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196596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58784" y="2606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$2.4T</a:t>
            </a:r>
            <a:endParaRPr lang="en-US" sz="5600" dirty="0"/>
          </a:p>
        </p:txBody>
      </p:sp>
      <p:sp>
        <p:nvSpPr>
          <p:cNvPr id="20" name="Text 15"/>
          <p:cNvSpPr/>
          <p:nvPr/>
        </p:nvSpPr>
        <p:spPr>
          <a:xfrm>
            <a:off x="8558784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poor software quality in U.S. enterprises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558784" y="4160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CISQ 2022 Report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57200" y="4846320"/>
            <a:ext cx="11247120" cy="1371600"/>
          </a:xfrm>
          <a:prstGeom prst="rect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166360"/>
            <a:ext cx="731520" cy="7315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83080" y="5074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uncovered scenario is a latent liability.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1783080" y="5532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scientifically grounded coverage method is the cheapest insurance policy a software organization can buy.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  |   Confidential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mathematically grounded layers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independently measurable, formally defined, and proven in industry. Combined, they produce coverage that is defensible to auditors, customers, and regulators.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8008" y="2377440"/>
            <a:ext cx="2157984" cy="3200400"/>
          </a:xfrm>
          <a:prstGeom prst="rect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8008" y="251460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960" y="32461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9448" y="402336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09448" y="4846320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theory &amp; traceability matrix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67432" y="2377440"/>
            <a:ext cx="2157984" cy="3200400"/>
          </a:xfrm>
          <a:prstGeom prst="rect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767432" y="251460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384" y="324612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58872" y="402336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+ Boundary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858872" y="4846320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Input-space partitioning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16856" y="2377440"/>
            <a:ext cx="2157984" cy="3200400"/>
          </a:xfrm>
          <a:prstGeom prst="rect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016856" y="251460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08" y="324612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08296" y="402336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108296" y="4846320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arrays, n-wise interactions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266280" y="2377440"/>
            <a:ext cx="2157984" cy="3200400"/>
          </a:xfrm>
          <a:prstGeom prst="rect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266280" y="251460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5232" y="3246120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57720" y="402336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357720" y="4846320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MC/DC, branch, path coverage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9515704" y="2377440"/>
            <a:ext cx="2157984" cy="3200400"/>
          </a:xfrm>
          <a:prstGeom prst="rect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9515704" y="251460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4656" y="3246120"/>
            <a:ext cx="640080" cy="6400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07144" y="402336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9607144" y="4846320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Adequacy proof of test suite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94360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80160" y="5943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across layers ensures gaps in one method are caught by another — a single layer is never enough.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  |   Confidential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MATHEMATICAL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Coverage, formally defined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6858000" cy="3108960"/>
          </a:xfrm>
          <a:prstGeom prst="rect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RATIO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463040" y="228600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2103120" y="2331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E</a:t>
            </a:r>
            <a:pPr algn="ctr" indent="0" marL="0">
              <a:buNone/>
            </a:pPr>
            <a:r>
              <a:rPr lang="en-US" sz="1600" baseline="-40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covered</a:t>
            </a:r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286000" y="3246120"/>
            <a:ext cx="26517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33832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E</a:t>
            </a:r>
            <a:pPr algn="ctr" indent="0" marL="0">
              <a:buNone/>
            </a:pPr>
            <a:r>
              <a:rPr lang="en-US" sz="1600" baseline="-40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</a:t>
            </a:r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212080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 100%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 is the universe of testable elements — requirements, equivalence classes, paths, states, or mutants — defined explicitly per project.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claims this framework makes honestly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219456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7532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relative to a model.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5320" y="2468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define E_total before measurement — the denominator is explicit and reviewable.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80960" y="352044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7532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one model isn't enough.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3794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layer five orthogonal models so each catches what the others miss.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80960" y="484632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7532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Adequacy must itself be tested.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75320" y="5120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 proves our tests would catch real defects, not just execute lines.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852160"/>
            <a:ext cx="457200" cy="4572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8016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Rice's theorem proves true semantic completeness is undecidable. We claim </a:t>
            </a:r>
            <a:pPr indent="0" marL="0">
              <a:buNone/>
            </a:pPr>
            <a:r>
              <a:rPr lang="en-US" sz="1100" b="1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under a defined coverage model</a:t>
            </a:r>
            <a:pPr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strongest guarantee mathematically possible.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  |   Confidential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  •   REQUIREMENTS DECOMPOSITION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Atomize, classify, trace — every requirement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943600" cy="132588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91440" cy="1325880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Atomize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774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SRS into atomic units R = {r₁, r₂, ..., rₙ}. Each rᵢ has one verb, one condition, one outcome — verifiable in isolation.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5943600" cy="132588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91440" cy="1325880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747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554480" y="34290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8404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R into orthogonal sets: functional, non-functional, constraints, negative cases. No requirement falls between categories.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5943600" cy="132588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754880"/>
            <a:ext cx="91440" cy="1325880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377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554480" y="4892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3035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bijective mapping M: R → T. Coverage holds when for every rᵢ ∈ R there exists tⱼ ∈ T verifying it.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TRACEABILITY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requirement → at least one test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697480"/>
          <a:ext cx="4937760" cy="2194560"/>
        </p:xfrm>
        <a:graphic>
          <a:graphicData uri="http://schemas.openxmlformats.org/drawingml/2006/table">
            <a:tbl>
              <a:tblPr/>
              <a:tblGrid>
                <a:gridCol w="987552"/>
                <a:gridCol w="987552"/>
                <a:gridCol w="987552"/>
                <a:gridCol w="987552"/>
                <a:gridCol w="98755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CA5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CA5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CA5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CA5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CA5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CA5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CA5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766560" y="5029200"/>
            <a:ext cx="4937760" cy="1188720"/>
          </a:xfrm>
          <a:prstGeom prst="rect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03720" y="51206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8823960" y="52120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coverage when every row has at least one ✓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  |   Confidential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  •   EQUIVALENCE + BOUNDARY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infinite inputs to a finite, tested 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0" cy="45720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91440" cy="4572000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Partitioning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554480" y="2377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Set-theoretic input reduction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2788920"/>
            <a:ext cx="4937760" cy="914400"/>
          </a:xfrm>
          <a:prstGeom prst="rect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88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= E₁ ∪ E₂ ∪ ... ∪ Eₙ ,   Eᵢ ∩ Eⱼ = ∅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" y="3840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4114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in equivalence class Eᵢ trigger the same code path. Testing one representative is mathematically sufficient under partitioning.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5074920"/>
            <a:ext cx="4937760" cy="105156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5166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" y="54406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infinite or massive input space collapses to a finite set without losing fault-detection power.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7920" y="1691640"/>
            <a:ext cx="91440" cy="4572000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20240"/>
            <a:ext cx="640080" cy="640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Value Analysis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7315200" y="2377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cluster at limits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537960" y="3383280"/>
            <a:ext cx="4937760" cy="0"/>
          </a:xfrm>
          <a:prstGeom prst="line">
            <a:avLst/>
          </a:prstGeom>
          <a:noFill/>
          <a:ln w="25400">
            <a:solidFill>
              <a:srgbClr val="0B1E3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611112" y="3319272"/>
            <a:ext cx="128016" cy="12801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30936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a−1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205472" y="3319272"/>
            <a:ext cx="128016" cy="12801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90372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799832" y="3319272"/>
            <a:ext cx="128016" cy="12801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49808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a+1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851392" y="3319272"/>
            <a:ext cx="128016" cy="128016"/>
          </a:xfrm>
          <a:prstGeom prst="ellipse">
            <a:avLst/>
          </a:prstGeom>
          <a:solidFill>
            <a:srgbClr val="5A64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54964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9857232" y="3319272"/>
            <a:ext cx="128016" cy="12801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55548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b−1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10451592" y="3319272"/>
            <a:ext cx="128016" cy="12801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014984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11045952" y="3319272"/>
            <a:ext cx="128016" cy="12801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074420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b+1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6537960" y="4023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empirical evidence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6537960" y="42976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Off-by-one errors and limit mishandling are among the most common defect categories in production code. BVA targets exactly these.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6537960" y="5212080"/>
            <a:ext cx="4937760" cy="914400"/>
          </a:xfrm>
          <a:prstGeom prst="rect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675120" y="5303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values</a:t>
            </a:r>
            <a:endParaRPr lang="en-US" sz="2400" dirty="0"/>
          </a:p>
        </p:txBody>
      </p:sp>
      <p:sp>
        <p:nvSpPr>
          <p:cNvPr id="40" name="Text 36"/>
          <p:cNvSpPr/>
          <p:nvPr/>
        </p:nvSpPr>
        <p:spPr>
          <a:xfrm>
            <a:off x="8275320" y="5303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numeric range catches the dominant defect class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  |   Confidential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  •   COMBINATORIAL / N-WISE 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interactions, not just individual inputs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testing of k parameters with vᵢ values needs ∏vᵢ tests — millions for any real system.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arrays guarantee every t-tuple of parameter values appears in at least one test — dramatically smaller suites with provable interaction coverage.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analyzed defect data from medical, aerospace, and enterprise systems. Pairwise (t = 2) testing detected the majority of all defects — t = 6 approached 100%.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5349240"/>
            <a:ext cx="5486400" cy="914400"/>
          </a:xfrm>
          <a:prstGeom prst="rect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4406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reduced from millions → dozens, with provable coverage.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217920" y="1691640"/>
          <a:ext cx="5577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6217920" y="59893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NIST SP 500-274, defect-interaction empirical study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  |   Confidential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   •   STRUCTURAL COVERAGE HIERARCHY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rigor scales with criticality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423160" y="2011680"/>
            <a:ext cx="1371600" cy="667512"/>
          </a:xfrm>
          <a:prstGeom prst="rect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423160" y="2011680"/>
            <a:ext cx="1371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03120" y="2724912"/>
            <a:ext cx="2011680" cy="667512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2724912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MC/DC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83080" y="3438144"/>
            <a:ext cx="2651760" cy="667512"/>
          </a:xfrm>
          <a:prstGeom prst="rect">
            <a:avLst/>
          </a:prstGeom>
          <a:solidFill>
            <a:srgbClr val="3D4F8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83080" y="3438144"/>
            <a:ext cx="2651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63040" y="4151376"/>
            <a:ext cx="3291840" cy="667512"/>
          </a:xfrm>
          <a:prstGeom prst="rect">
            <a:avLst/>
          </a:prstGeom>
          <a:solidFill>
            <a:srgbClr val="5C6FB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63040" y="4151376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4864608"/>
            <a:ext cx="4023360" cy="667512"/>
          </a:xfrm>
          <a:prstGeom prst="rect">
            <a:avLst/>
          </a:prstGeom>
          <a:solidFill>
            <a:srgbClr val="8493C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4864608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011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423160"/>
            <a:ext cx="731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5943600" y="1783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20574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Cyclomatic complexity defines the minimum independent paths to cover.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2514600"/>
            <a:ext cx="5760720" cy="777240"/>
          </a:xfrm>
          <a:prstGeom prst="rect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251460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V(G) = E − V + 2P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943600" y="3520440"/>
            <a:ext cx="5760720" cy="150876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3703320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67512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MC/DC — Modified Condition / Decision Coverage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126480" y="41605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Boolean condition must independently affect the decision outcome. Mandated by DO-178C for avionics software at design-assurance Level A. The legal ceiling of structural coverage rigor.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43600" y="5212080"/>
            <a:ext cx="5760720" cy="1005840"/>
          </a:xfrm>
          <a:prstGeom prst="rect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5394960"/>
            <a:ext cx="640080" cy="6400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903720" y="52852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coverage criterion to the cost of failure.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903720" y="56509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for low-risk modules; MC/DC or path coverage for safety- and revenue-critical paths.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  |   Confidential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5   •   MUTATION 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your tests would catch real defects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4864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 spot in coverage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24231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structural coverage can still miss defects — a test that executes a line without asserting its correctness adds nothing. Coverage measures execution; it does not measure detection.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023360"/>
            <a:ext cx="5486400" cy="2194560"/>
          </a:xfrm>
          <a:prstGeom prst="rect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4160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4526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</a:t>
            </a:r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mutants killed  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2103120" y="5166360"/>
            <a:ext cx="35661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03120" y="5212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non-equivalent mutants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40080" y="5760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 mutation score = genuinely effective test suite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0936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309360" y="2148840"/>
            <a:ext cx="411480" cy="4114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58000" y="24414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introduce small syntactic faults (mutants) into the production code.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09360" y="3182112"/>
            <a:ext cx="411480" cy="4114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0" y="3136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58000" y="3474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existing test suite against each mutant version.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309360" y="4215384"/>
            <a:ext cx="411480" cy="4114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4215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858000" y="41696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858000" y="450799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test fails, the mutant is "killed." If all tests pass, the mutant survived — a coverage gap.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309360" y="5248656"/>
            <a:ext cx="411480" cy="4114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09360" y="5248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58000" y="52029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858000" y="554126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Surviving mutants point precisely to weak assertions or untested behaviors to fix.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  |   Confidential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  •   THE COMPLETE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Layers stack to produce 100% coverage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943600" cy="658368"/>
          </a:xfrm>
          <a:prstGeom prst="rect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3794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465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2057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test suite itself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404872"/>
            <a:ext cx="59436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5117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4597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COVERAGE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7706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MC/DC, branch, path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118104"/>
            <a:ext cx="5943600" cy="658368"/>
          </a:xfrm>
          <a:prstGeom prst="rect">
            <a:avLst/>
          </a:prstGeom>
          <a:solidFill>
            <a:srgbClr val="30397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6440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1729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TESTING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4838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n-wise interaction coverage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831336"/>
            <a:ext cx="5943600" cy="658368"/>
          </a:xfrm>
          <a:prstGeom prst="rect">
            <a:avLst/>
          </a:prstGeom>
          <a:solidFill>
            <a:srgbClr val="47539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7764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+ BVA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41970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space partitioning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4544568"/>
            <a:ext cx="5943600" cy="658368"/>
          </a:xfrm>
          <a:prstGeom prst="rect">
            <a:avLst/>
          </a:prstGeom>
          <a:solidFill>
            <a:srgbClr val="5C6FB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690872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45994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TRACEABILITY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234440" y="4910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→ a test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57200" y="5303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answers a distinct question — together they answer all of them.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676656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LAYER ANSWERS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766560" y="2057400"/>
            <a:ext cx="4937760" cy="676656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766560" y="2057400"/>
            <a:ext cx="73152" cy="676656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949440" y="21031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test our adversary?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949440" y="2423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766560" y="2807208"/>
            <a:ext cx="4937760" cy="676656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766560" y="2807208"/>
            <a:ext cx="73152" cy="676656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949440" y="28529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line and decision exercised?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949440" y="3172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coverage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766560" y="3557016"/>
            <a:ext cx="4937760" cy="676656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766560" y="3557016"/>
            <a:ext cx="73152" cy="676656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949440" y="360273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parameter combinations tested?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6949440" y="3922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testing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766560" y="4306824"/>
            <a:ext cx="4937760" cy="676656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766560" y="4306824"/>
            <a:ext cx="73152" cy="676656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6949440" y="435254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inputs and boundaries covered?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6949440" y="46725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+ BVA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766560" y="5056632"/>
            <a:ext cx="4937760" cy="676656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766560" y="5056632"/>
            <a:ext cx="73152" cy="676656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6949440" y="51023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requirement verified?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6949440" y="54223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 five layers report high coverage simultaneously, the claim of completeness is mathematically defensible.</a:t>
            </a:r>
            <a:endParaRPr lang="en-US" sz="1300" dirty="0"/>
          </a:p>
        </p:txBody>
      </p:sp>
      <p:sp>
        <p:nvSpPr>
          <p:cNvPr id="48" name="Text 4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  |   Confidential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 the framework. Make 100% defensible.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9584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606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30-70%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68680" y="3383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escaped defects to production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43984" y="1874520"/>
            <a:ext cx="3529584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0574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72584" y="2606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2-5×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4672584" y="3383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test investment via combinatorial reduction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247888" y="1874520"/>
            <a:ext cx="3529584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0574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76488" y="2606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5" name="Text 10"/>
          <p:cNvSpPr/>
          <p:nvPr/>
        </p:nvSpPr>
        <p:spPr>
          <a:xfrm>
            <a:off x="8476488" y="3383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audit-ready, regulatory &amp; customer-grade evidence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0080" y="4434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ACTION PLAN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4846320"/>
            <a:ext cx="278892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0080" y="4846320"/>
            <a:ext cx="2788920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2960" y="4937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22960" y="5212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22960" y="5577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5-layer model to one critical product feature.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520440" y="4846320"/>
            <a:ext cx="278892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520440" y="4846320"/>
            <a:ext cx="2788920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703320" y="4937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4–6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3703320" y="5212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3703320" y="5577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current coverage; identify gaps with mutation testing.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400800" y="4846320"/>
            <a:ext cx="278892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400800" y="4846320"/>
            <a:ext cx="2788920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583680" y="4937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7–9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583680" y="5212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6583680" y="5577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combinatorial generators, MC/DC instrumentation, mutation runners.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9281160" y="4846320"/>
            <a:ext cx="278892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281160" y="4846320"/>
            <a:ext cx="2788920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464040" y="4937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10–12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9464040" y="5212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36" name="Text 31"/>
          <p:cNvSpPr/>
          <p:nvPr/>
        </p:nvSpPr>
        <p:spPr>
          <a:xfrm>
            <a:off x="9464040" y="5577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the model into the standard QE playbook across the portfolio.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anecdote to evidence.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Path to 100% Test Coverage</dc:title>
  <dc:subject>PptxGenJS Presentation</dc:subject>
  <dc:creator>Quality Engineering</dc:creator>
  <cp:lastModifiedBy>Quality Engineering</cp:lastModifiedBy>
  <cp:revision>1</cp:revision>
  <dcterms:created xsi:type="dcterms:W3CDTF">2026-05-03T18:58:20Z</dcterms:created>
  <dcterms:modified xsi:type="dcterms:W3CDTF">2026-05-03T18:58:20Z</dcterms:modified>
</cp:coreProperties>
</file>